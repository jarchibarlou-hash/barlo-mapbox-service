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0" r:id="rId8"/>
    <p:sldMasterId id="2147483661" r:id="rId9"/>
    <p:sldMasterId id="2147483662" r:id="rId10"/>
    <p:sldMasterId id="2147483663" r:id="rId11"/>
    <p:sldMasterId id="2147483664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9144000" cy="5143500"/>
  <p:notesSz cx="6858000" cy="9144000"/>
  <p:embeddedFontLst>
    <p:embeddedFont>
      <p:font typeface="Lao UI"/>
    </p:embeddedFont>
    <p:embeddedFont>
      <p:font typeface="Century Gothic"/>
    </p:embeddedFont>
    <p:embeddedFont>
      <p:font typeface="Microsoft YaHei"/>
    </p:embeddedFont>
    <p:embeddedFont>
      <p:font typeface="Arial Unicode M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4CDDA0E-B211-4403-B0C9-96493EDD579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0B86624-42A8-47DB-BCF6-4A0964726413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176FA3-000B-4EED-83BB-51D7D8A36025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319B49-F7F7-4ED7-B235-4AEE686AC549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8C311BE-DEC4-43F0-8776-076B5DB4450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245674-882D-4432-8D80-3C27B80CDF5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5C2CE7-8FD4-43F9-BD2F-3086195C567E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lang="fr-FR" sz="1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lang="fr-FR" sz="1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3FC1ED-2BBF-4985-B13E-65F9EB5B9F39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FF066A-824E-441B-9BA0-E714B50639D9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3E567F-B1F4-400D-9550-2941E753F051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9B163F-1D97-45C5-9FCE-F9AD8F9D7ACF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81BDE9-7C4E-46E7-8B39-270023E02303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2F63C8-737F-4381-91CF-4B16866E80A8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BB70D3-A523-4047-987C-75A1BD809346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1FB37B-89E0-466A-A622-6A4ECCA500B8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95F245-FF25-46EF-BD9D-58A21E76E0AE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4E0C953-416C-4FBB-9F93-36347B539C1C}" type="slidenum">
              <a:rPr lang="fr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&lt;numéro&gt;</a:t>
            </a:fld>
            <a:endParaRPr lang="fr-F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_rels/slide20.xml.rels><?xml version="1.0" encoding="UTF-8"?>
<Relationships xmlns="http://schemas.openxmlformats.org/package/2006/relationships"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54;p13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Google Shape;55;p13"/>
          <p:cNvSpPr/>
          <p:nvPr/>
        </p:nvSpPr>
        <p:spPr>
          <a:xfrm>
            <a:off x="1696320" y="4035960"/>
            <a:ext cx="213156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600" b="0" u="none" strike="noStrike">
                <a:solidFill>
                  <a:srgbClr val="38761d"/>
                </a:solidFill>
                <a:effectLst/>
                <a:uFillTx/>
                <a:latin typeface="Century Gothic"/>
                <a:ea typeface="Century Gothic"/>
              </a:rPr>
              <a:t>{{client_name}}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0;p14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CE QUI EST EN JEU</a:t>
            </a:r>
          </a:p>
        </p:txBody>
      </p:sp>
      <p:sp>
        <p:nvSpPr>
          <p:cNvPr id="47" name="Google Shape;66;p15"/>
          <p:cNvSpPr/>
          <p:nvPr/>
        </p:nvSpPr>
        <p:spPr>
          <a:xfrm>
            <a:off x="406440" y="627480"/>
            <a:ext cx="8331120" cy="40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{{slide_3_text}} 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LECTURE STRATÉGIQUE DU TERRAIN</a:t>
            </a:r>
          </a:p>
        </p:txBody>
      </p:sp>
      <p:sp>
        <p:nvSpPr>
          <p:cNvPr id="49" name="Google Shape;72;p16"/>
          <p:cNvSpPr/>
          <p:nvPr/>
        </p:nvSpPr>
        <p:spPr>
          <a:xfrm>
            <a:off x="0" y="487800"/>
            <a:ext cx="4571640" cy="452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{{slide_4_image}}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73;p16"/>
          <p:cNvSpPr/>
          <p:nvPr/>
        </p:nvSpPr>
        <p:spPr>
          <a:xfrm>
            <a:off x="5069880" y="487800"/>
            <a:ext cx="4000320" cy="452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{{slide_4_text}}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CONTRAINTES INVISIBLES</a:t>
            </a:r>
          </a:p>
        </p:txBody>
      </p:sp>
      <p:sp>
        <p:nvSpPr>
          <p:cNvPr id="51" name="Google Shape;78;p17"/>
          <p:cNvSpPr/>
          <p:nvPr/>
        </p:nvSpPr>
        <p:spPr>
          <a:xfrm>
            <a:off x="0" y="487800"/>
            <a:ext cx="5416200" cy="452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{{slide_4_axo_image}}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79;p17"/>
          <p:cNvSpPr/>
          <p:nvPr/>
        </p:nvSpPr>
        <p:spPr>
          <a:xfrm>
            <a:off x="5502960" y="120960"/>
            <a:ext cx="3640680" cy="488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6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{{slide_5_text}}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A — VOLUMÉTRIE</a:t>
            </a:r>
          </a:p>
        </p:txBody>
      </p:sp>
      <p:sp>
        <p:nvSpPr>
          <p:cNvPr id="53" name="Google Shape;84;p18"/>
          <p:cNvSpPr/>
          <p:nvPr/>
        </p:nvSpPr>
        <p:spPr>
          <a:xfrm>
            <a:off x="71640" y="531000"/>
            <a:ext cx="4911120" cy="428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{{scenario_A_massing}}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85;p18"/>
          <p:cNvSpPr/>
          <p:nvPr/>
        </p:nvSpPr>
        <p:spPr>
          <a:xfrm>
            <a:off x="5069880" y="146880"/>
            <a:ext cx="3783960" cy="484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{{scenario_A_summary_text}}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A — LECTURE FINANCIÈRE ET TECHNIQUE</a:t>
            </a:r>
          </a:p>
        </p:txBody>
      </p:sp>
      <p:sp>
        <p:nvSpPr>
          <p:cNvPr id="56" name="Google Shape;91;p19"/>
          <p:cNvSpPr/>
          <p:nvPr/>
        </p:nvSpPr>
        <p:spPr>
          <a:xfrm>
            <a:off x="362880" y="687240"/>
            <a:ext cx="8340480" cy="38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{{scenario_A_financial_text}}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A — EXPOSITION ET FRAGILITÉS</a:t>
            </a:r>
          </a:p>
        </p:txBody>
      </p:sp>
      <p:sp>
        <p:nvSpPr>
          <p:cNvPr id="57" name="Google Shape;96;p20"/>
          <p:cNvSpPr/>
          <p:nvPr/>
        </p:nvSpPr>
        <p:spPr>
          <a:xfrm>
            <a:off x="0" y="502920"/>
            <a:ext cx="914400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{{scenario_A_risk_chart}}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97;p20"/>
          <p:cNvSpPr/>
          <p:nvPr/>
        </p:nvSpPr>
        <p:spPr>
          <a:xfrm>
            <a:off x="118872" y="2697480"/>
            <a:ext cx="8951976" cy="22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{{scenario_A_risk_text}}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200" b="0" u="none" strike="noStrike">
                <a:solidFill>
                  <a:srgbClr val="274e13"/>
                </a:solidFill>
                <a:effectLst/>
                <a:uFillTx/>
                <a:latin typeface="Lao UI"/>
                <a:ea typeface="Lao UI"/>
              </a:rPr>
              <a:t>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B — VOLUMÉTRIE</a:t>
            </a:r>
          </a:p>
        </p:txBody>
      </p:sp>
      <p:sp>
        <p:nvSpPr>
          <p:cNvPr id="60" name="Google Shape;103;p21"/>
          <p:cNvSpPr/>
          <p:nvPr/>
        </p:nvSpPr>
        <p:spPr>
          <a:xfrm>
            <a:off x="104040" y="487800"/>
            <a:ext cx="5181840" cy="44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{{scenario_B_massing}}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104;p21"/>
          <p:cNvSpPr/>
          <p:nvPr/>
        </p:nvSpPr>
        <p:spPr>
          <a:xfrm>
            <a:off x="5340600" y="159480"/>
            <a:ext cx="3729600" cy="47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{{scenario_B_summary_text}}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B — LECTURE FINANCIÈRE ET TECHNIQUE</a:t>
            </a:r>
          </a:p>
        </p:txBody>
      </p:sp>
      <p:sp>
        <p:nvSpPr>
          <p:cNvPr id="63" name="Google Shape;110;p22"/>
          <p:cNvSpPr/>
          <p:nvPr/>
        </p:nvSpPr>
        <p:spPr>
          <a:xfrm>
            <a:off x="362880" y="687240"/>
            <a:ext cx="8340480" cy="38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{{scenario_B_financial_text}}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B — EXPOSITION ET FRAGILITÉS</a:t>
            </a:r>
          </a:p>
        </p:txBody>
      </p:sp>
      <p:sp>
        <p:nvSpPr>
          <p:cNvPr id="65" name="Google Shape;116;p23"/>
          <p:cNvSpPr/>
          <p:nvPr/>
        </p:nvSpPr>
        <p:spPr>
          <a:xfrm>
            <a:off x="0" y="502920"/>
            <a:ext cx="914400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{{scenario_B_risk_chart}}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0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17;p23"/>
          <p:cNvSpPr/>
          <p:nvPr/>
        </p:nvSpPr>
        <p:spPr>
          <a:xfrm>
            <a:off x="118872" y="2697480"/>
            <a:ext cx="8951976" cy="22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{{scenario_B_risk_text}}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C — VOLUMÉTRIE</a:t>
            </a:r>
          </a:p>
        </p:txBody>
      </p:sp>
      <p:sp>
        <p:nvSpPr>
          <p:cNvPr id="67" name="Google Shape;122;p24"/>
          <p:cNvSpPr/>
          <p:nvPr/>
        </p:nvSpPr>
        <p:spPr>
          <a:xfrm>
            <a:off x="104040" y="487800"/>
            <a:ext cx="5394240" cy="44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{{scenario_C_massing}}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23;p24"/>
          <p:cNvSpPr/>
          <p:nvPr/>
        </p:nvSpPr>
        <p:spPr>
          <a:xfrm>
            <a:off x="5498640" y="159480"/>
            <a:ext cx="3571560" cy="47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{{scenario_C_summary_text}}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9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C — LECTURE FINANCIÈRE ET TECHNIQUE</a:t>
            </a:r>
          </a:p>
        </p:txBody>
      </p:sp>
      <p:sp>
        <p:nvSpPr>
          <p:cNvPr id="70" name="Google Shape;129;p25"/>
          <p:cNvSpPr/>
          <p:nvPr/>
        </p:nvSpPr>
        <p:spPr>
          <a:xfrm>
            <a:off x="362880" y="687240"/>
            <a:ext cx="8340480" cy="38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{{scenario_C_financial_text}}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SCÉNARIO C — EXPOSITION ET FRAGILITÉS</a:t>
            </a:r>
          </a:p>
        </p:txBody>
      </p:sp>
      <p:sp>
        <p:nvSpPr>
          <p:cNvPr id="72" name="Google Shape;135;p26"/>
          <p:cNvSpPr/>
          <p:nvPr/>
        </p:nvSpPr>
        <p:spPr>
          <a:xfrm>
            <a:off x="0" y="502920"/>
            <a:ext cx="9144000" cy="21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{{scenario_C_risk_chart}}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36;p26"/>
          <p:cNvSpPr/>
          <p:nvPr/>
        </p:nvSpPr>
        <p:spPr>
          <a:xfrm>
            <a:off x="118872" y="2697480"/>
            <a:ext cx="8951976" cy="22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rgbClr val="274e13"/>
                </a:solidFill>
                <a:effectLst/>
                <a:uFillTx/>
                <a:latin typeface="Century Gothic"/>
                <a:ea typeface="Century Gothic"/>
              </a:rPr>
              <a:t>{{scenario_C_risk_text}}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COMPARATIF STRATÉGIQUE GLOBAL</a:t>
            </a:r>
          </a:p>
        </p:txBody>
      </p:sp>
      <p:sp>
        <p:nvSpPr>
          <p:cNvPr id="74" name="Google Shape;141;p27"/>
          <p:cNvSpPr/>
          <p:nvPr/>
        </p:nvSpPr>
        <p:spPr>
          <a:xfrm>
            <a:off x="15480" y="1456560"/>
            <a:ext cx="2921400" cy="8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42;p27"/>
          <p:cNvSpPr/>
          <p:nvPr/>
        </p:nvSpPr>
        <p:spPr>
          <a:xfrm>
            <a:off x="0" y="391320"/>
            <a:ext cx="90702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300" b="1" i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{{tableau comparative_charts}}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45;p27"/>
          <p:cNvSpPr/>
          <p:nvPr/>
        </p:nvSpPr>
        <p:spPr>
          <a:xfrm>
            <a:off x="6006960" y="867600"/>
            <a:ext cx="3063240" cy="46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46;p27"/>
          <p:cNvSpPr/>
          <p:nvPr/>
        </p:nvSpPr>
        <p:spPr>
          <a:xfrm>
            <a:off x="15480" y="2392920"/>
            <a:ext cx="2921400" cy="11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47;p27"/>
          <p:cNvSpPr/>
          <p:nvPr/>
        </p:nvSpPr>
        <p:spPr>
          <a:xfrm>
            <a:off x="-36000" y="3667320"/>
            <a:ext cx="297288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50;p27"/>
          <p:cNvSpPr/>
          <p:nvPr/>
        </p:nvSpPr>
        <p:spPr>
          <a:xfrm>
            <a:off x="2932200" y="3667320"/>
            <a:ext cx="306324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51;p27"/>
          <p:cNvSpPr/>
          <p:nvPr/>
        </p:nvSpPr>
        <p:spPr>
          <a:xfrm>
            <a:off x="5995800" y="1456560"/>
            <a:ext cx="3147840" cy="8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52;p27"/>
          <p:cNvSpPr/>
          <p:nvPr/>
        </p:nvSpPr>
        <p:spPr>
          <a:xfrm>
            <a:off x="5995800" y="2392920"/>
            <a:ext cx="3147840" cy="114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53;p27"/>
          <p:cNvSpPr/>
          <p:nvPr/>
        </p:nvSpPr>
        <p:spPr>
          <a:xfrm>
            <a:off x="5995800" y="3667320"/>
            <a:ext cx="314784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ARBITRAGE STRATÉGIQUE</a:t>
            </a:r>
          </a:p>
        </p:txBody>
      </p:sp>
      <p:sp>
        <p:nvSpPr>
          <p:cNvPr id="84" name="Google Shape;159;p28"/>
          <p:cNvSpPr/>
          <p:nvPr/>
        </p:nvSpPr>
        <p:spPr>
          <a:xfrm>
            <a:off x="128016" y="539496"/>
            <a:ext cx="9052560" cy="187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{{strategic_arbitrage_text}}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60;p28"/>
          <p:cNvSpPr/>
          <p:nvPr/>
        </p:nvSpPr>
        <p:spPr>
          <a:xfrm>
            <a:off x="182880" y="2487168"/>
            <a:ext cx="8641080" cy="239572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5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{{arbitrage_graph_}}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CONDITIONS DE RÉUSSITE</a:t>
            </a:r>
          </a:p>
        </p:txBody>
      </p:sp>
      <p:sp>
        <p:nvSpPr>
          <p:cNvPr id="86" name="Google Shape;165;p29"/>
          <p:cNvSpPr/>
          <p:nvPr/>
        </p:nvSpPr>
        <p:spPr>
          <a:xfrm>
            <a:off x="15480" y="1193760"/>
            <a:ext cx="2921400" cy="38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2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{{invisible_technical_text}}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66;p29"/>
          <p:cNvSpPr/>
          <p:nvPr/>
        </p:nvSpPr>
        <p:spPr>
          <a:xfrm>
            <a:off x="0" y="391320"/>
            <a:ext cx="9143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300" b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{{invisible_intro_text}}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67;p29"/>
          <p:cNvSpPr/>
          <p:nvPr/>
        </p:nvSpPr>
        <p:spPr>
          <a:xfrm>
            <a:off x="2932200" y="1194120"/>
            <a:ext cx="3063240" cy="38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2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{{invisible_financial_text}}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68;p29"/>
          <p:cNvSpPr/>
          <p:nvPr/>
        </p:nvSpPr>
        <p:spPr>
          <a:xfrm>
            <a:off x="5995800" y="1194120"/>
            <a:ext cx="3147840" cy="38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2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{{invisible_strategic_text}}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CE QU'ON NE VOIT PAS ENCORE</a:t>
            </a:r>
          </a:p>
        </p:txBody>
      </p:sp>
      <p:sp>
        <p:nvSpPr>
          <p:cNvPr id="90" name="Google Shape;173;p30"/>
          <p:cNvSpPr/>
          <p:nvPr/>
        </p:nvSpPr>
        <p:spPr>
          <a:xfrm>
            <a:off x="15480" y="1181160"/>
            <a:ext cx="2921400" cy="36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2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{{invisible_technical_text}}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74;p30"/>
          <p:cNvSpPr/>
          <p:nvPr/>
        </p:nvSpPr>
        <p:spPr>
          <a:xfrm>
            <a:off x="12600" y="428760"/>
            <a:ext cx="8703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300" b="1" i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{{success_intro_text}}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75;p30"/>
          <p:cNvSpPr/>
          <p:nvPr/>
        </p:nvSpPr>
        <p:spPr>
          <a:xfrm>
            <a:off x="2932200" y="1181520"/>
            <a:ext cx="3063240" cy="36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2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{{invisible_financial_text}}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76;p30"/>
          <p:cNvSpPr/>
          <p:nvPr/>
        </p:nvSpPr>
        <p:spPr>
          <a:xfrm>
            <a:off x="5995800" y="1181160"/>
            <a:ext cx="3147840" cy="36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200" b="0" u="none" strike="noStrike">
                <a:solidFill>
                  <a:srgbClr val="274e13"/>
                </a:solidFill>
                <a:effectLst/>
                <a:uFillTx/>
                <a:latin typeface="Arial"/>
                <a:ea typeface="Arial"/>
              </a:rPr>
              <a:t>{{invisible_strategic_text}}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PROCHAINE ÉTAPE / ÉTUDE DE FAISABILITÉ</a:t>
            </a:r>
          </a:p>
        </p:txBody>
      </p:sp>
      <p:sp>
        <p:nvSpPr>
          <p:cNvPr id="94" name="Google Shape;181;p31"/>
          <p:cNvSpPr/>
          <p:nvPr/>
        </p:nvSpPr>
        <p:spPr>
          <a:xfrm>
            <a:off x="225360" y="478800"/>
            <a:ext cx="870372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300" b="1" i="1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{{next_step_intro_text}}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82;p31"/>
          <p:cNvSpPr/>
          <p:nvPr/>
        </p:nvSpPr>
        <p:spPr>
          <a:xfrm>
            <a:off x="219960" y="1594440"/>
            <a:ext cx="8703720" cy="20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3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{{next_step_scope_text}}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Bandeau vert"/>
          <p:cNvSpPr/>
          <p:nvPr/>
        </p:nvSpPr>
        <p:spPr>
          <a:xfrm>
            <a:off x="0" y="5019675"/>
            <a:ext cx="4572000" cy="123825"/>
          </a:xfrm>
          <a:prstGeom prst="rect">
            <a:avLst/>
          </a:prstGeom>
          <a:solidFill>
            <a:srgbClr val="1F5E5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2" name="Bandeau rose"/>
          <p:cNvSpPr/>
          <p:nvPr/>
        </p:nvSpPr>
        <p:spPr>
          <a:xfrm>
            <a:off x="4572000" y="5019675"/>
            <a:ext cx="4572000" cy="123825"/>
          </a:xfrm>
          <a:prstGeom prst="rect">
            <a:avLst/>
          </a:prstGeom>
          <a:solidFill>
            <a:srgbClr val="E94B7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03" name="Titre BARLO"/>
          <p:cNvSpPr txBox="1"/>
          <p:nvPr/>
        </p:nvSpPr>
        <p:spPr>
          <a:xfrm>
            <a:off x="304800" y="140000"/>
            <a:ext cx="8534400" cy="31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lang="fr-FR" sz="2000" b="1" dirty="0">
                <a:solidFill>
                  <a:srgbClr val="1F5E55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CONCLUSION / PROJECTION</a:t>
            </a:r>
          </a:p>
        </p:txBody>
      </p:sp>
      <p:sp>
        <p:nvSpPr>
          <p:cNvPr id="97" name="Google Shape;189;p32"/>
          <p:cNvSpPr/>
          <p:nvPr/>
        </p:nvSpPr>
        <p:spPr>
          <a:xfrm>
            <a:off x="225360" y="478800"/>
            <a:ext cx="8703720" cy="14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3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{{conclusion_summary_text}}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90;p32"/>
          <p:cNvSpPr/>
          <p:nvPr/>
        </p:nvSpPr>
        <p:spPr>
          <a:xfrm>
            <a:off x="219960" y="2194920"/>
            <a:ext cx="8703720" cy="146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3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{{conclusion_positioning_text}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fr" sz="13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}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1141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fr-FR</dc:language>
  <cp:lastModifiedBy/>
  <dcterms:modified xsi:type="dcterms:W3CDTF">2026-04-20T06:33:02Z</dcterms:modified>
  <cp:revision>3</cp:revision>
  <dc:subject/>
  <dc:title/>
</cp:coreProperties>
</file>